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00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5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95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13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13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07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46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29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46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139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262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587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580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627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301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542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5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2E3F30-B7FF-4EDB-B012-3E05D7948895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6BFE5A-2664-4D96-9763-A77326484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3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1800" dirty="0" smtClean="0">
                <a:latin typeface="Bahnschrift" panose="020B0502040204020203" pitchFamily="34" charset="0"/>
              </a:rPr>
              <a:t>Chef de groupe: YETOR Romane</a:t>
            </a:r>
            <a:endParaRPr lang="fr-FR" sz="1800" dirty="0">
              <a:latin typeface="Bahnschrift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6"/>
            <a:ext cx="7676623" cy="2635122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>
                <a:latin typeface="Bahnschrift SemiBold SemiConden" panose="020B0502040204020203" pitchFamily="34" charset="0"/>
              </a:rPr>
              <a:t>TEKPOR Jules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latin typeface="Bahnschrift SemiBold SemiConden" panose="020B0502040204020203" pitchFamily="34" charset="0"/>
              </a:rPr>
              <a:t>ALOKPA </a:t>
            </a:r>
            <a:r>
              <a:rPr lang="fr-FR" dirty="0">
                <a:latin typeface="Bahnschrift SemiBold SemiConden" panose="020B0502040204020203" pitchFamily="34" charset="0"/>
              </a:rPr>
              <a:t>Juliette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latin typeface="Bahnschrift SemiBold SemiConden" panose="020B0502040204020203" pitchFamily="34" charset="0"/>
              </a:rPr>
              <a:t>AGBEMEWO Léa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latin typeface="Bahnschrift SemiBold SemiConden" panose="020B0502040204020203" pitchFamily="34" charset="0"/>
              </a:rPr>
              <a:t>AGOSSOU Victor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latin typeface="Bahnschrift SemiBold SemiConden" panose="020B0502040204020203" pitchFamily="34" charset="0"/>
              </a:rPr>
              <a:t>GBOLOGAN </a:t>
            </a:r>
            <a:r>
              <a:rPr lang="fr-FR" dirty="0" err="1">
                <a:latin typeface="Bahnschrift SemiBold SemiConden" panose="020B0502040204020203" pitchFamily="34" charset="0"/>
              </a:rPr>
              <a:t>Délali</a:t>
            </a:r>
            <a:endParaRPr lang="fr-FR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latin typeface="Bahnschrift SemiBold SemiConden" panose="020B0502040204020203" pitchFamily="34" charset="0"/>
              </a:rPr>
              <a:t>EPOUVI Emmanuel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latin typeface="Bahnschrift SemiBold SemiConden" panose="020B0502040204020203" pitchFamily="34" charset="0"/>
              </a:rPr>
              <a:t>BANGANA </a:t>
            </a:r>
            <a:r>
              <a:rPr lang="fr-FR" dirty="0" err="1">
                <a:latin typeface="Bahnschrift SemiBold SemiConden" panose="020B0502040204020203" pitchFamily="34" charset="0"/>
              </a:rPr>
              <a:t>Bassamou</a:t>
            </a:r>
            <a:endParaRPr lang="fr-FR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>
                <a:latin typeface="Bahnschrift SemiBold SemiConden" panose="020B0502040204020203" pitchFamily="34" charset="0"/>
              </a:rPr>
              <a:t>KOWOUVI </a:t>
            </a:r>
            <a:r>
              <a:rPr lang="fr-FR" dirty="0" smtClean="0">
                <a:latin typeface="Bahnschrift SemiBold SemiConden" panose="020B0502040204020203" pitchFamily="34" charset="0"/>
              </a:rPr>
              <a:t>Emmanuel</a:t>
            </a:r>
            <a:endParaRPr lang="fr-FR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53616" y="2092690"/>
            <a:ext cx="41777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GROUPE N°4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188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210673" cy="6858000"/>
          </a:xfrm>
        </p:spPr>
      </p:pic>
      <p:sp>
        <p:nvSpPr>
          <p:cNvPr id="11" name="Rectangle 10"/>
          <p:cNvSpPr/>
          <p:nvPr/>
        </p:nvSpPr>
        <p:spPr>
          <a:xfrm>
            <a:off x="1543140" y="2497998"/>
            <a:ext cx="9575057" cy="1200329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</a:rPr>
              <a:t>ECO-CONCEPTION WEB</a:t>
            </a:r>
          </a:p>
        </p:txBody>
      </p:sp>
    </p:spTree>
    <p:extLst>
      <p:ext uri="{BB962C8B-B14F-4D97-AF65-F5344CB8AC3E}">
        <p14:creationId xmlns:p14="http://schemas.microsoft.com/office/powerpoint/2010/main" val="187961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Bauhaus 93" panose="04030905020B02020C02" pitchFamily="82" charset="0"/>
              </a:rPr>
              <a:t>Qu’est-ce que l’</a:t>
            </a:r>
            <a:r>
              <a:rPr lang="fr-FR" dirty="0" err="1" smtClean="0">
                <a:latin typeface="Bauhaus 93" panose="04030905020B02020C02" pitchFamily="82" charset="0"/>
              </a:rPr>
              <a:t>Eco-conception</a:t>
            </a:r>
            <a:r>
              <a:rPr lang="fr-FR" dirty="0" smtClean="0">
                <a:latin typeface="Bauhaus 93" panose="04030905020B02020C02" pitchFamily="82" charset="0"/>
              </a:rPr>
              <a:t> Web???</a:t>
            </a:r>
            <a:endParaRPr lang="fr-FR" dirty="0">
              <a:latin typeface="Bauhaus 93" panose="04030905020B02020C02" pitchFamily="8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842118" y="3413125"/>
            <a:ext cx="10018713" cy="1447800"/>
          </a:xfrm>
        </p:spPr>
        <p:txBody>
          <a:bodyPr>
            <a:normAutofit lnSpcReduction="10000"/>
          </a:bodyPr>
          <a:lstStyle/>
          <a:p>
            <a:r>
              <a:rPr lang="fr-FR" dirty="0">
                <a:latin typeface="Eras Demi ITC" panose="020B0805030504020804" pitchFamily="34" charset="0"/>
              </a:rPr>
              <a:t>L’</a:t>
            </a:r>
            <a:r>
              <a:rPr lang="fr-FR" dirty="0" err="1">
                <a:latin typeface="Eras Demi ITC" panose="020B0805030504020804" pitchFamily="34" charset="0"/>
              </a:rPr>
              <a:t>éco-conception</a:t>
            </a:r>
            <a:r>
              <a:rPr lang="fr-FR" dirty="0">
                <a:latin typeface="Eras Demi ITC" panose="020B0805030504020804" pitchFamily="34" charset="0"/>
              </a:rPr>
              <a:t> web désigne l’ensemble des pratiques visant à réduire l’impact environnemental des sites internet tout au long de leur cycle de vie — de la conception à l’hébergement, en passant par le développement et l’utilisation. Elle repose sur des principes d’efficacité, de sobriété numérique et d’accessibilité, afin de limiter la consommation d’énergie, de données et de ressources matérielles.</a:t>
            </a:r>
          </a:p>
          <a:p>
            <a:endParaRPr lang="fr-FR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5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307" y="2276061"/>
            <a:ext cx="8990012" cy="2743199"/>
          </a:xfrm>
        </p:spPr>
        <p:txBody>
          <a:bodyPr>
            <a:noAutofit/>
          </a:bodyPr>
          <a:lstStyle/>
          <a:p>
            <a:r>
              <a:rPr lang="fr-FR" b="1" dirty="0" smtClean="0">
                <a:latin typeface="Eras Demi ITC" panose="020B0805030504020804" pitchFamily="34" charset="0"/>
              </a:rPr>
              <a:t/>
            </a:r>
            <a:br>
              <a:rPr lang="fr-FR" b="1" dirty="0" smtClean="0">
                <a:latin typeface="Eras Demi ITC" panose="020B0805030504020804" pitchFamily="34" charset="0"/>
              </a:rPr>
            </a:br>
            <a:r>
              <a:rPr lang="fr-FR" sz="3600" b="1" dirty="0" smtClean="0">
                <a:latin typeface="Bauhaus 93" panose="04030905020B02020C02" pitchFamily="82" charset="0"/>
              </a:rPr>
              <a:t>Pourquoi L’</a:t>
            </a:r>
            <a:r>
              <a:rPr lang="fr-FR" sz="3600" b="1" dirty="0" err="1" smtClean="0">
                <a:latin typeface="Bauhaus 93" panose="04030905020B02020C02" pitchFamily="82" charset="0"/>
              </a:rPr>
              <a:t>Eco-Conception</a:t>
            </a:r>
            <a:r>
              <a:rPr lang="fr-FR" sz="3600" b="1" dirty="0" smtClean="0">
                <a:latin typeface="Bauhaus 93" panose="04030905020B02020C02" pitchFamily="82" charset="0"/>
              </a:rPr>
              <a:t> Web???</a:t>
            </a:r>
            <a:r>
              <a:rPr lang="fr-FR" sz="2800" dirty="0">
                <a:latin typeface="Eras Demi ITC" panose="020B0805030504020804" pitchFamily="34" charset="0"/>
              </a:rPr>
              <a:t/>
            </a:r>
            <a:br>
              <a:rPr lang="fr-FR" sz="2800" dirty="0">
                <a:latin typeface="Eras Demi ITC" panose="020B0805030504020804" pitchFamily="34" charset="0"/>
              </a:rPr>
            </a:br>
            <a:r>
              <a:rPr lang="fr-FR" sz="2800" dirty="0" smtClean="0">
                <a:latin typeface="Eras Demi ITC" panose="020B0805030504020804" pitchFamily="34" charset="0"/>
              </a:rPr>
              <a:t>Le </a:t>
            </a:r>
            <a:r>
              <a:rPr lang="fr-FR" sz="2800" dirty="0">
                <a:latin typeface="Eras Demi ITC" panose="020B0805030504020804" pitchFamily="34" charset="0"/>
              </a:rPr>
              <a:t>numérique représente une part croissante des émissions de gaz à effet de serre, notamment à cause des serveurs, des terminaux et du transfert de données. Un site web mal optimisé peut consommer inutilement de l’énergie et ralentir l’expérience utilisateur. L’</a:t>
            </a:r>
            <a:r>
              <a:rPr lang="fr-FR" sz="2800" dirty="0" err="1">
                <a:latin typeface="Eras Demi ITC" panose="020B0805030504020804" pitchFamily="34" charset="0"/>
              </a:rPr>
              <a:t>éco-conception</a:t>
            </a:r>
            <a:r>
              <a:rPr lang="fr-FR" sz="2800" dirty="0">
                <a:latin typeface="Eras Demi ITC" panose="020B0805030504020804" pitchFamily="34" charset="0"/>
              </a:rPr>
              <a:t> permet donc :</a:t>
            </a:r>
            <a:br>
              <a:rPr lang="fr-FR" sz="2800" dirty="0">
                <a:latin typeface="Eras Demi ITC" panose="020B0805030504020804" pitchFamily="34" charset="0"/>
              </a:rPr>
            </a:br>
            <a:r>
              <a:rPr lang="en-US" sz="2800" dirty="0">
                <a:latin typeface="Eras Demi ITC" panose="020B0805030504020804" pitchFamily="34" charset="0"/>
              </a:rPr>
              <a:t>*</a:t>
            </a:r>
            <a:r>
              <a:rPr lang="fr-FR" sz="2800" dirty="0" smtClean="0">
                <a:latin typeface="Eras Demi ITC" panose="020B0805030504020804" pitchFamily="34" charset="0"/>
              </a:rPr>
              <a:t>De </a:t>
            </a:r>
            <a:r>
              <a:rPr lang="fr-FR" sz="2800" dirty="0">
                <a:latin typeface="Eras Demi ITC" panose="020B0805030504020804" pitchFamily="34" charset="0"/>
              </a:rPr>
              <a:t>contribuer à la lutte contre le changement climatique 🌍</a:t>
            </a:r>
            <a:br>
              <a:rPr lang="fr-FR" sz="2800" dirty="0">
                <a:latin typeface="Eras Demi ITC" panose="020B0805030504020804" pitchFamily="34" charset="0"/>
              </a:rPr>
            </a:br>
            <a:r>
              <a:rPr lang="fr-FR" sz="2800" dirty="0" smtClean="0">
                <a:latin typeface="Eras Demi ITC" panose="020B0805030504020804" pitchFamily="34" charset="0"/>
              </a:rPr>
              <a:t>*D’améliorer </a:t>
            </a:r>
            <a:r>
              <a:rPr lang="fr-FR" sz="2800" dirty="0">
                <a:latin typeface="Eras Demi ITC" panose="020B0805030504020804" pitchFamily="34" charset="0"/>
              </a:rPr>
              <a:t>les performances techniques (vitesse, accessibilité)</a:t>
            </a:r>
            <a:br>
              <a:rPr lang="fr-FR" sz="2800" dirty="0">
                <a:latin typeface="Eras Demi ITC" panose="020B0805030504020804" pitchFamily="34" charset="0"/>
              </a:rPr>
            </a:br>
            <a:r>
              <a:rPr lang="fr-FR" sz="2800" dirty="0" smtClean="0">
                <a:latin typeface="Eras Demi ITC" panose="020B0805030504020804" pitchFamily="34" charset="0"/>
              </a:rPr>
              <a:t>*De </a:t>
            </a:r>
            <a:r>
              <a:rPr lang="fr-FR" sz="2800" dirty="0">
                <a:latin typeface="Eras Demi ITC" panose="020B0805030504020804" pitchFamily="34" charset="0"/>
              </a:rPr>
              <a:t>prolonger la durée de vie des équipements des utilisateurs</a:t>
            </a:r>
            <a:br>
              <a:rPr lang="fr-FR" sz="2800" dirty="0">
                <a:latin typeface="Eras Demi ITC" panose="020B0805030504020804" pitchFamily="34" charset="0"/>
              </a:rPr>
            </a:br>
            <a:r>
              <a:rPr lang="fr-FR" sz="2800" dirty="0" smtClean="0">
                <a:latin typeface="Eras Demi ITC" panose="020B0805030504020804" pitchFamily="34" charset="0"/>
              </a:rPr>
              <a:t>*De </a:t>
            </a:r>
            <a:r>
              <a:rPr lang="fr-FR" sz="2800" dirty="0">
                <a:latin typeface="Eras Demi ITC" panose="020B0805030504020804" pitchFamily="34" charset="0"/>
              </a:rPr>
              <a:t>valoriser une démarche responsable et éthique</a:t>
            </a:r>
            <a:br>
              <a:rPr lang="fr-FR" sz="2800" dirty="0">
                <a:latin typeface="Eras Demi ITC" panose="020B0805030504020804" pitchFamily="34" charset="0"/>
              </a:rPr>
            </a:br>
            <a:endParaRPr lang="fr-FR" sz="2800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62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15746" y="2905538"/>
            <a:ext cx="5426158" cy="1371600"/>
          </a:xfrm>
        </p:spPr>
        <p:txBody>
          <a:bodyPr>
            <a:noAutofit/>
          </a:bodyPr>
          <a:lstStyle/>
          <a:p>
            <a:r>
              <a:rPr lang="fr-FR" sz="3200" b="1" dirty="0">
                <a:latin typeface="Bodoni MT Black" panose="02070A03080606020203" pitchFamily="18" charset="0"/>
              </a:rPr>
              <a:t>Quelles sont les bonnes pratiques pour créer un site web plus respectueux de l’environnement???</a:t>
            </a:r>
            <a:endParaRPr lang="fr-FR" sz="3200" dirty="0"/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6" r="26076"/>
          <a:stretch>
            <a:fillRect/>
          </a:stretch>
        </p:blipFill>
        <p:spPr>
          <a:xfrm>
            <a:off x="7059955" y="0"/>
            <a:ext cx="5018076" cy="6992632"/>
          </a:xfrm>
        </p:spPr>
      </p:pic>
    </p:spTree>
    <p:extLst>
      <p:ext uri="{BB962C8B-B14F-4D97-AF65-F5344CB8AC3E}">
        <p14:creationId xmlns:p14="http://schemas.microsoft.com/office/powerpoint/2010/main" val="73033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544" y="53670"/>
            <a:ext cx="4301656" cy="680433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514424" cy="1964636"/>
          </a:xfrm>
        </p:spPr>
        <p:txBody>
          <a:bodyPr>
            <a:normAutofit fontScale="62500" lnSpcReduction="20000"/>
          </a:bodyPr>
          <a:lstStyle/>
          <a:p>
            <a:r>
              <a:rPr lang="fr-FR" sz="2600" b="1" dirty="0" smtClean="0">
                <a:latin typeface="Eras Demi ITC" panose="020B0805030504020804" pitchFamily="34" charset="0"/>
              </a:rPr>
              <a:t>Optimiser les images et vidéos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b="1" dirty="0">
                <a:latin typeface="Eras Demi ITC" panose="020B0805030504020804" pitchFamily="34" charset="0"/>
                <a:ea typeface="Times New Roman" panose="02020603050405020304" pitchFamily="18" charset="0"/>
              </a:rPr>
              <a:t>Pourquoi ?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 </a:t>
            </a:r>
            <a:endParaRPr lang="fr-FR" altLang="fr-FR" dirty="0" smtClean="0">
              <a:latin typeface="Eras Demi ITC" panose="020B0805030504020804" pitchFamily="34" charset="0"/>
              <a:ea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 smtClean="0">
                <a:latin typeface="Eras Demi ITC" panose="020B0805030504020804" pitchFamily="34" charset="0"/>
                <a:ea typeface="Times New Roman" panose="02020603050405020304" pitchFamily="18" charset="0"/>
              </a:rPr>
              <a:t>Les 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médias sont souvent les éléments les plus lourds d’un site. Ils consomment beaucoup de bande passante et ralentissent le chargement.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b="1" dirty="0" smtClean="0">
              <a:latin typeface="Eras Demi ITC" panose="020B0805030504020804" pitchFamily="34" charset="0"/>
              <a:ea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b="1" dirty="0" smtClean="0">
                <a:latin typeface="Eras Demi ITC" panose="020B0805030504020804" pitchFamily="34" charset="0"/>
                <a:ea typeface="Times New Roman" panose="02020603050405020304" pitchFamily="18" charset="0"/>
              </a:rPr>
              <a:t>Comment </a:t>
            </a:r>
            <a:r>
              <a:rPr lang="fr-FR" altLang="fr-FR" b="1" dirty="0">
                <a:latin typeface="Eras Demi ITC" panose="020B0805030504020804" pitchFamily="34" charset="0"/>
                <a:ea typeface="Times New Roman" panose="02020603050405020304" pitchFamily="18" charset="0"/>
              </a:rPr>
              <a:t>?</a:t>
            </a:r>
            <a:endParaRPr lang="fr-FR" altLang="fr-FR" dirty="0">
              <a:latin typeface="Eras Demi ITC" panose="020B0805030504020804" pitchFamily="34" charset="0"/>
              <a:ea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Utiliser des formats légers : </a:t>
            </a:r>
            <a:r>
              <a:rPr lang="fr-FR" altLang="fr-FR" sz="1200" dirty="0" err="1">
                <a:latin typeface="Eras Demi ITC" panose="020B08050305040208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WebP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 pour les images, </a:t>
            </a:r>
            <a:r>
              <a:rPr lang="fr-FR" altLang="fr-FR" sz="1200" dirty="0">
                <a:latin typeface="Eras Demi ITC" panose="020B08050305040208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SVG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 pour les icônes vectorielles.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Compresser les fichiers sans perte de qualité avec des outils comme </a:t>
            </a:r>
            <a:r>
              <a:rPr lang="fr-FR" altLang="fr-FR" dirty="0" err="1">
                <a:latin typeface="Eras Demi ITC" panose="020B0805030504020804" pitchFamily="34" charset="0"/>
                <a:ea typeface="Times New Roman" panose="02020603050405020304" pitchFamily="18" charset="0"/>
              </a:rPr>
              <a:t>TinyPNG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 ou </a:t>
            </a:r>
            <a:r>
              <a:rPr lang="fr-FR" altLang="fr-FR" dirty="0" err="1">
                <a:latin typeface="Eras Demi ITC" panose="020B0805030504020804" pitchFamily="34" charset="0"/>
                <a:ea typeface="Times New Roman" panose="02020603050405020304" pitchFamily="18" charset="0"/>
              </a:rPr>
              <a:t>Squoosh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Charger les images en différé (</a:t>
            </a:r>
            <a:r>
              <a:rPr lang="fr-FR" altLang="fr-FR" dirty="0" err="1">
                <a:latin typeface="Eras Demi ITC" panose="020B0805030504020804" pitchFamily="34" charset="0"/>
                <a:ea typeface="Times New Roman" panose="02020603050405020304" pitchFamily="18" charset="0"/>
              </a:rPr>
              <a:t>lazy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 </a:t>
            </a:r>
            <a:r>
              <a:rPr lang="fr-FR" altLang="fr-FR" dirty="0" err="1">
                <a:latin typeface="Eras Demi ITC" panose="020B0805030504020804" pitchFamily="34" charset="0"/>
                <a:ea typeface="Times New Roman" panose="02020603050405020304" pitchFamily="18" charset="0"/>
              </a:rPr>
              <a:t>loading</a:t>
            </a: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) pour éviter de tout afficher dès l’ouverture.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Eras Demi ITC" panose="020B0805030504020804" pitchFamily="34" charset="0"/>
                <a:ea typeface="Times New Roman" panose="02020603050405020304" pitchFamily="18" charset="0"/>
              </a:rPr>
              <a:t>Éviter les vidéos en arrière-plan ou les animations inutiles.</a:t>
            </a:r>
            <a:endParaRPr lang="fr-FR" altLang="fr-FR" sz="2800" dirty="0">
              <a:latin typeface="Eras Demi ITC" panose="020B08050305040208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661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8" r="23928"/>
          <a:stretch>
            <a:fillRect/>
          </a:stretch>
        </p:blipFill>
        <p:spPr>
          <a:xfrm>
            <a:off x="7163325" y="-1668"/>
            <a:ext cx="4922658" cy="685966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3" y="3124199"/>
            <a:ext cx="5498521" cy="1893074"/>
          </a:xfrm>
        </p:spPr>
        <p:txBody>
          <a:bodyPr>
            <a:normAutofit fontScale="62500" lnSpcReduction="20000"/>
          </a:bodyPr>
          <a:lstStyle/>
          <a:p>
            <a:r>
              <a:rPr lang="fr-FR" sz="2600" b="1" dirty="0" smtClean="0">
                <a:latin typeface="Eras Demi ITC" panose="020B0805030504020804" pitchFamily="34" charset="0"/>
              </a:rPr>
              <a:t>Réduire le poids des pages</a:t>
            </a:r>
          </a:p>
          <a:p>
            <a:r>
              <a:rPr lang="fr-FR" b="1" dirty="0" smtClean="0">
                <a:latin typeface="Eras Demi ITC" panose="020B0805030504020804" pitchFamily="34" charset="0"/>
              </a:rPr>
              <a:t>Pourquoi </a:t>
            </a:r>
            <a:r>
              <a:rPr lang="fr-FR" b="1" dirty="0">
                <a:latin typeface="Eras Demi ITC" panose="020B0805030504020804" pitchFamily="34" charset="0"/>
              </a:rPr>
              <a:t>?</a:t>
            </a:r>
            <a:r>
              <a:rPr lang="fr-FR" dirty="0">
                <a:latin typeface="Eras Demi ITC" panose="020B0805030504020804" pitchFamily="34" charset="0"/>
              </a:rPr>
              <a:t> </a:t>
            </a:r>
            <a:endParaRPr lang="fr-FR" dirty="0" smtClean="0">
              <a:latin typeface="Eras Demi ITC" panose="020B0805030504020804" pitchFamily="34" charset="0"/>
            </a:endParaRPr>
          </a:p>
          <a:p>
            <a:r>
              <a:rPr lang="fr-FR" dirty="0" smtClean="0">
                <a:latin typeface="Eras Demi ITC" panose="020B0805030504020804" pitchFamily="34" charset="0"/>
              </a:rPr>
              <a:t>Une </a:t>
            </a:r>
            <a:r>
              <a:rPr lang="fr-FR" dirty="0">
                <a:latin typeface="Eras Demi ITC" panose="020B0805030504020804" pitchFamily="34" charset="0"/>
              </a:rPr>
              <a:t>page légère consomme moins de ressources côté serveur et côté utilisateur.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Comment ?</a:t>
            </a:r>
            <a:endParaRPr lang="fr-FR" dirty="0">
              <a:latin typeface="Eras Demi ITC" panose="020B0805030504020804" pitchFamily="34" charset="0"/>
            </a:endParaRPr>
          </a:p>
          <a:p>
            <a:r>
              <a:rPr lang="fr-FR" dirty="0">
                <a:latin typeface="Eras Demi ITC" panose="020B0805030504020804" pitchFamily="34" charset="0"/>
              </a:rPr>
              <a:t>Supprimer les scripts JavaScript inutiles ou trop lourds.</a:t>
            </a:r>
          </a:p>
          <a:p>
            <a:r>
              <a:rPr lang="fr-FR" dirty="0">
                <a:latin typeface="Eras Demi ITC" panose="020B0805030504020804" pitchFamily="34" charset="0"/>
              </a:rPr>
              <a:t>Limiter l’usage de bibliothèques externes (ex. : jQuery, </a:t>
            </a:r>
            <a:r>
              <a:rPr lang="fr-FR" dirty="0" err="1">
                <a:latin typeface="Eras Demi ITC" panose="020B0805030504020804" pitchFamily="34" charset="0"/>
              </a:rPr>
              <a:t>Bootstrap</a:t>
            </a:r>
            <a:r>
              <a:rPr lang="fr-FR" dirty="0">
                <a:latin typeface="Eras Demi ITC" panose="020B0805030504020804" pitchFamily="34" charset="0"/>
              </a:rPr>
              <a:t>) si elles ne sont pas indispensables.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0756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4" r="29814"/>
          <a:stretch>
            <a:fillRect/>
          </a:stretch>
        </p:blipFill>
        <p:spPr>
          <a:xfrm>
            <a:off x="7283395" y="0"/>
            <a:ext cx="4908605" cy="684008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2600" b="1" dirty="0">
                <a:latin typeface="Eras Demi ITC" panose="020B0805030504020804" pitchFamily="34" charset="0"/>
              </a:rPr>
              <a:t>Limiter les requêtes serveur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Pourquoi ?</a:t>
            </a:r>
            <a:r>
              <a:rPr lang="fr-FR" dirty="0">
                <a:latin typeface="Eras Demi ITC" panose="020B0805030504020804" pitchFamily="34" charset="0"/>
              </a:rPr>
              <a:t> Chaque requête consomme de l’énergie et ralentit l’expérience utilisateur.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Comment ?</a:t>
            </a:r>
            <a:endParaRPr lang="fr-FR" dirty="0">
              <a:latin typeface="Eras Demi ITC" panose="020B0805030504020804" pitchFamily="34" charset="0"/>
            </a:endParaRPr>
          </a:p>
          <a:p>
            <a:r>
              <a:rPr lang="fr-FR" dirty="0">
                <a:latin typeface="Eras Demi ITC" panose="020B0805030504020804" pitchFamily="34" charset="0"/>
              </a:rPr>
              <a:t>Regrouper les fichiers CSS et JS pour réduire le nombre de requêtes.</a:t>
            </a:r>
          </a:p>
          <a:p>
            <a:r>
              <a:rPr lang="fr-FR" dirty="0">
                <a:latin typeface="Eras Demi ITC" panose="020B0805030504020804" pitchFamily="34" charset="0"/>
              </a:rPr>
              <a:t>Mettre en place un système de cache pour éviter de recharger les mêmes ressources.</a:t>
            </a:r>
          </a:p>
          <a:p>
            <a:r>
              <a:rPr lang="fr-FR" dirty="0">
                <a:latin typeface="Eras Demi ITC" panose="020B0805030504020804" pitchFamily="34" charset="0"/>
              </a:rPr>
              <a:t>Utiliser un CDN (Content Delivery Network) pour distribuer les contenus plus efficacement.</a:t>
            </a:r>
          </a:p>
          <a:p>
            <a:endParaRPr lang="fr-FR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6" b="3556"/>
          <a:stretch>
            <a:fillRect/>
          </a:stretch>
        </p:blipFill>
        <p:spPr>
          <a:xfrm>
            <a:off x="7351432" y="0"/>
            <a:ext cx="4840568" cy="674527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3" y="3124198"/>
            <a:ext cx="5585987" cy="1972588"/>
          </a:xfrm>
        </p:spPr>
        <p:txBody>
          <a:bodyPr>
            <a:normAutofit fontScale="70000" lnSpcReduction="20000"/>
          </a:bodyPr>
          <a:lstStyle/>
          <a:p>
            <a:r>
              <a:rPr lang="fr-FR" sz="2600" b="1" dirty="0" smtClean="0">
                <a:latin typeface="Eras Demi ITC" panose="020B0805030504020804" pitchFamily="34" charset="0"/>
              </a:rPr>
              <a:t>Choisir </a:t>
            </a:r>
            <a:r>
              <a:rPr lang="fr-FR" sz="2600" b="1" dirty="0">
                <a:latin typeface="Eras Demi ITC" panose="020B0805030504020804" pitchFamily="34" charset="0"/>
              </a:rPr>
              <a:t>un hébergeur </a:t>
            </a:r>
            <a:r>
              <a:rPr lang="fr-FR" sz="2600" b="1" dirty="0" err="1">
                <a:latin typeface="Eras Demi ITC" panose="020B0805030504020804" pitchFamily="34" charset="0"/>
              </a:rPr>
              <a:t>éco-responsable</a:t>
            </a:r>
            <a:endParaRPr lang="fr-FR" sz="2600" b="1" dirty="0">
              <a:latin typeface="Eras Demi ITC" panose="020B0805030504020804" pitchFamily="34" charset="0"/>
            </a:endParaRPr>
          </a:p>
          <a:p>
            <a:r>
              <a:rPr lang="fr-FR" b="1" dirty="0">
                <a:latin typeface="Eras Demi ITC" panose="020B0805030504020804" pitchFamily="34" charset="0"/>
              </a:rPr>
              <a:t>Pourquoi ?</a:t>
            </a:r>
            <a:r>
              <a:rPr lang="fr-FR" dirty="0">
                <a:latin typeface="Eras Demi ITC" panose="020B0805030504020804" pitchFamily="34" charset="0"/>
              </a:rPr>
              <a:t> Les data </a:t>
            </a:r>
            <a:r>
              <a:rPr lang="fr-FR" dirty="0" err="1">
                <a:latin typeface="Eras Demi ITC" panose="020B0805030504020804" pitchFamily="34" charset="0"/>
              </a:rPr>
              <a:t>centers</a:t>
            </a:r>
            <a:r>
              <a:rPr lang="fr-FR" dirty="0">
                <a:latin typeface="Eras Demi ITC" panose="020B0805030504020804" pitchFamily="34" charset="0"/>
              </a:rPr>
              <a:t> sont très énergivores. Certains utilisent des énergies renouvelables.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Comment ?</a:t>
            </a:r>
            <a:endParaRPr lang="fr-FR" dirty="0">
              <a:latin typeface="Eras Demi ITC" panose="020B0805030504020804" pitchFamily="34" charset="0"/>
            </a:endParaRPr>
          </a:p>
          <a:p>
            <a:r>
              <a:rPr lang="fr-FR" dirty="0">
                <a:latin typeface="Eras Demi ITC" panose="020B0805030504020804" pitchFamily="34" charset="0"/>
              </a:rPr>
              <a:t>Opter pour des hébergeurs verts comme </a:t>
            </a:r>
            <a:r>
              <a:rPr lang="fr-FR" dirty="0" err="1">
                <a:latin typeface="Eras Demi ITC" panose="020B0805030504020804" pitchFamily="34" charset="0"/>
              </a:rPr>
              <a:t>Infomaniak</a:t>
            </a:r>
            <a:r>
              <a:rPr lang="fr-FR" dirty="0">
                <a:latin typeface="Eras Demi ITC" panose="020B0805030504020804" pitchFamily="34" charset="0"/>
              </a:rPr>
              <a:t>, </a:t>
            </a:r>
            <a:r>
              <a:rPr lang="fr-FR" dirty="0" err="1">
                <a:latin typeface="Eras Demi ITC" panose="020B0805030504020804" pitchFamily="34" charset="0"/>
              </a:rPr>
              <a:t>GreenGeeks</a:t>
            </a:r>
            <a:r>
              <a:rPr lang="fr-FR" dirty="0">
                <a:latin typeface="Eras Demi ITC" panose="020B0805030504020804" pitchFamily="34" charset="0"/>
              </a:rPr>
              <a:t> ou OVH avec options écologiques.</a:t>
            </a:r>
          </a:p>
          <a:p>
            <a:r>
              <a:rPr lang="fr-FR" dirty="0">
                <a:latin typeface="Eras Demi ITC" panose="020B0805030504020804" pitchFamily="34" charset="0"/>
              </a:rPr>
              <a:t>Vérifier les certifications (ISO 14001, énergie verte, compensation carbone…).</a:t>
            </a:r>
          </a:p>
          <a:p>
            <a:endParaRPr lang="fr-FR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43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6" r="26076"/>
          <a:stretch>
            <a:fillRect/>
          </a:stretch>
        </p:blipFill>
        <p:spPr>
          <a:xfrm>
            <a:off x="7594681" y="-101127"/>
            <a:ext cx="4597319" cy="689949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530326" cy="1956684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 smtClean="0">
                <a:latin typeface="Eras Demi ITC" panose="020B0805030504020804" pitchFamily="34" charset="0"/>
              </a:rPr>
              <a:t> </a:t>
            </a:r>
            <a:r>
              <a:rPr lang="fr-FR" sz="2300" b="1" dirty="0">
                <a:latin typeface="Eras Demi ITC" panose="020B0805030504020804" pitchFamily="34" charset="0"/>
              </a:rPr>
              <a:t>Simplifier la navigation et le design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Pourquoi ?</a:t>
            </a:r>
            <a:r>
              <a:rPr lang="fr-FR" dirty="0">
                <a:latin typeface="Eras Demi ITC" panose="020B0805030504020804" pitchFamily="34" charset="0"/>
              </a:rPr>
              <a:t> Un site simple est plus rapide à charger et plus facile à utiliser.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Comment ?</a:t>
            </a:r>
            <a:endParaRPr lang="fr-FR" dirty="0">
              <a:latin typeface="Eras Demi ITC" panose="020B0805030504020804" pitchFamily="34" charset="0"/>
            </a:endParaRPr>
          </a:p>
          <a:p>
            <a:r>
              <a:rPr lang="fr-FR" dirty="0">
                <a:latin typeface="Eras Demi ITC" panose="020B0805030504020804" pitchFamily="34" charset="0"/>
              </a:rPr>
              <a:t>Utiliser une architecture claire avec peu de niveaux de profondeur.</a:t>
            </a:r>
          </a:p>
          <a:p>
            <a:r>
              <a:rPr lang="fr-FR" dirty="0">
                <a:latin typeface="Eras Demi ITC" panose="020B0805030504020804" pitchFamily="34" charset="0"/>
              </a:rPr>
              <a:t>Éviter les effets visuels complexes ou les carrousels lourds.</a:t>
            </a:r>
          </a:p>
          <a:p>
            <a:r>
              <a:rPr lang="fr-FR" dirty="0">
                <a:latin typeface="Eras Demi ITC" panose="020B0805030504020804" pitchFamily="34" charset="0"/>
              </a:rPr>
              <a:t>Proposer un contenu utile, concis et bien structuré.</a:t>
            </a:r>
          </a:p>
          <a:p>
            <a:endParaRPr lang="fr-FR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4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11" y="0"/>
            <a:ext cx="4654165" cy="68580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8"/>
            <a:ext cx="5554180" cy="2020295"/>
          </a:xfrm>
        </p:spPr>
        <p:txBody>
          <a:bodyPr>
            <a:normAutofit fontScale="62500" lnSpcReduction="20000"/>
          </a:bodyPr>
          <a:lstStyle/>
          <a:p>
            <a:r>
              <a:rPr lang="fr-FR" sz="2600" b="1" dirty="0">
                <a:latin typeface="Eras Demi ITC" panose="020B0805030504020804" pitchFamily="34" charset="0"/>
              </a:rPr>
              <a:t>Mesurer et améliorer l’impact</a:t>
            </a:r>
          </a:p>
          <a:p>
            <a:r>
              <a:rPr lang="fr-FR" b="1" dirty="0">
                <a:latin typeface="Eras Demi ITC" panose="020B0805030504020804" pitchFamily="34" charset="0"/>
              </a:rPr>
              <a:t>Pourquoi ?</a:t>
            </a:r>
            <a:r>
              <a:rPr lang="fr-FR" dirty="0">
                <a:latin typeface="Eras Demi ITC" panose="020B0805030504020804" pitchFamily="34" charset="0"/>
              </a:rPr>
              <a:t> Il faut évaluer pour progresser.</a:t>
            </a:r>
          </a:p>
          <a:p>
            <a:r>
              <a:rPr lang="fr-FR" b="1" dirty="0" smtClean="0">
                <a:latin typeface="Eras Demi ITC" panose="020B0805030504020804" pitchFamily="34" charset="0"/>
              </a:rPr>
              <a:t>Comment?</a:t>
            </a:r>
            <a:endParaRPr lang="fr-FR" dirty="0">
              <a:latin typeface="Eras Demi ITC" panose="020B0805030504020804" pitchFamily="34" charset="0"/>
            </a:endParaRPr>
          </a:p>
          <a:p>
            <a:r>
              <a:rPr lang="fr-FR" dirty="0">
                <a:latin typeface="Eras Demi ITC" panose="020B0805030504020804" pitchFamily="34" charset="0"/>
              </a:rPr>
              <a:t>Utiliser des outils comme :</a:t>
            </a:r>
          </a:p>
          <a:p>
            <a:r>
              <a:rPr lang="fr-FR" dirty="0" err="1">
                <a:latin typeface="Eras Demi ITC" panose="020B0805030504020804" pitchFamily="34" charset="0"/>
              </a:rPr>
              <a:t>EcoIndex</a:t>
            </a:r>
            <a:r>
              <a:rPr lang="fr-FR" dirty="0">
                <a:latin typeface="Eras Demi ITC" panose="020B0805030504020804" pitchFamily="34" charset="0"/>
              </a:rPr>
              <a:t> : note environnementale d’une page web.</a:t>
            </a:r>
          </a:p>
          <a:p>
            <a:r>
              <a:rPr lang="fr-FR" dirty="0" err="1">
                <a:latin typeface="Eras Demi ITC" panose="020B0805030504020804" pitchFamily="34" charset="0"/>
              </a:rPr>
              <a:t>Website</a:t>
            </a:r>
            <a:r>
              <a:rPr lang="fr-FR" dirty="0">
                <a:latin typeface="Eras Demi ITC" panose="020B0805030504020804" pitchFamily="34" charset="0"/>
              </a:rPr>
              <a:t> </a:t>
            </a:r>
            <a:r>
              <a:rPr lang="fr-FR" dirty="0" err="1">
                <a:latin typeface="Eras Demi ITC" panose="020B0805030504020804" pitchFamily="34" charset="0"/>
              </a:rPr>
              <a:t>Carbon</a:t>
            </a:r>
            <a:r>
              <a:rPr lang="fr-FR" dirty="0">
                <a:latin typeface="Eras Demi ITC" panose="020B0805030504020804" pitchFamily="34" charset="0"/>
              </a:rPr>
              <a:t> </a:t>
            </a:r>
            <a:r>
              <a:rPr lang="fr-FR" dirty="0" err="1">
                <a:latin typeface="Eras Demi ITC" panose="020B0805030504020804" pitchFamily="34" charset="0"/>
              </a:rPr>
              <a:t>Calculator</a:t>
            </a:r>
            <a:r>
              <a:rPr lang="fr-FR" dirty="0">
                <a:latin typeface="Eras Demi ITC" panose="020B0805030504020804" pitchFamily="34" charset="0"/>
              </a:rPr>
              <a:t> : estimation des émissions de CO₂.</a:t>
            </a:r>
          </a:p>
          <a:p>
            <a:r>
              <a:rPr lang="fr-FR" dirty="0" err="1">
                <a:latin typeface="Eras Demi ITC" panose="020B0805030504020804" pitchFamily="34" charset="0"/>
              </a:rPr>
              <a:t>Lighthouse</a:t>
            </a:r>
            <a:r>
              <a:rPr lang="fr-FR" dirty="0">
                <a:latin typeface="Eras Demi ITC" panose="020B0805030504020804" pitchFamily="34" charset="0"/>
              </a:rPr>
              <a:t> : audit de performance et d’accessibilité.</a:t>
            </a:r>
          </a:p>
          <a:p>
            <a:endParaRPr lang="fr-FR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3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50718" y="2243766"/>
            <a:ext cx="4674678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MERCI POUR </a:t>
            </a:r>
          </a:p>
          <a:p>
            <a:pPr algn="ctr"/>
            <a:r>
              <a:rPr lang="en-US" sz="60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VOTRE </a:t>
            </a:r>
          </a:p>
          <a:p>
            <a:pPr algn="ctr"/>
            <a:r>
              <a:rPr lang="en-US" sz="60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ATTENTION</a:t>
            </a:r>
            <a:endParaRPr lang="en-US" sz="6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3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171</TotalTime>
  <Words>566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Algerian</vt:lpstr>
      <vt:lpstr>Arial</vt:lpstr>
      <vt:lpstr>Bahnschrift</vt:lpstr>
      <vt:lpstr>Bahnschrift SemiBold SemiConden</vt:lpstr>
      <vt:lpstr>Bauhaus 93</vt:lpstr>
      <vt:lpstr>Bodoni MT Black</vt:lpstr>
      <vt:lpstr>Corbel</vt:lpstr>
      <vt:lpstr>Courier New</vt:lpstr>
      <vt:lpstr>Eras Demi ITC</vt:lpstr>
      <vt:lpstr>Times New Roman</vt:lpstr>
      <vt:lpstr>Wingdings</vt:lpstr>
      <vt:lpstr>Parallax</vt:lpstr>
      <vt:lpstr>Chef de groupe: YETOR Romane</vt:lpstr>
      <vt:lpstr>PowerPoint Presentation</vt:lpstr>
      <vt:lpstr>Qu’est-ce que l’Eco-conception Web???</vt:lpstr>
      <vt:lpstr> Pourquoi L’Eco-Conception Web??? Le numérique représente une part croissante des émissions de gaz à effet de serre, notamment à cause des serveurs, des terminaux et du transfert de données. Un site web mal optimisé peut consommer inutilement de l’énergie et ralentir l’expérience utilisateur. L’éco-conception permet donc : *De contribuer à la lutte contre le changement climatique 🌍 *D’améliorer les performances techniques (vitesse, accessibilité) *De prolonger la durée de vie des équipements des utilisateurs *De valoriser une démarche responsable et éthique </vt:lpstr>
      <vt:lpstr>Quelles sont les bonnes pratiques pour créer un site web plus respectueux de l’environnement???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</dc:title>
  <dc:creator>ROMLES</dc:creator>
  <cp:lastModifiedBy>ROMLES</cp:lastModifiedBy>
  <cp:revision>17</cp:revision>
  <dcterms:created xsi:type="dcterms:W3CDTF">2025-11-12T18:36:54Z</dcterms:created>
  <dcterms:modified xsi:type="dcterms:W3CDTF">2025-11-12T22:13:57Z</dcterms:modified>
</cp:coreProperties>
</file>